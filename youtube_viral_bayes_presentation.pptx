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48121e6b5848be" /><Relationship Type="http://schemas.openxmlformats.org/officeDocument/2006/relationships/extended-properties" Target="/docProps/app.xml" Id="Rc3f2fef8921a4c29" /><Relationship Type="http://schemas.openxmlformats.org/officeDocument/2006/relationships/officeDocument" Target="/ppt/presentation.xml" Id="R2e9bf45c8118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ae9f968c5e453a"/>
  </p:sldMasterIdLst>
  <p:notesMasterIdLst>
    <p:notesMasterId xmlns:r="http://schemas.openxmlformats.org/officeDocument/2006/relationships" r:id="R416a03ea729c45e9"/>
  </p:notesMasterIdLst>
  <p:sldIdLst>
    <p:sldId xmlns:r="http://schemas.openxmlformats.org/officeDocument/2006/relationships" id="256" r:id="Rdd937fb372744558"/>
    <p:sldId xmlns:r="http://schemas.openxmlformats.org/officeDocument/2006/relationships" id="257" r:id="R7d96211f05974043"/>
    <p:sldId xmlns:r="http://schemas.openxmlformats.org/officeDocument/2006/relationships" id="258" r:id="Rb0551bc622634b5a"/>
    <p:sldId xmlns:r="http://schemas.openxmlformats.org/officeDocument/2006/relationships" id="259" r:id="R3f98acff955e4700"/>
    <p:sldId xmlns:r="http://schemas.openxmlformats.org/officeDocument/2006/relationships" id="260" r:id="Rd889837a44de40d1"/>
    <p:sldId xmlns:r="http://schemas.openxmlformats.org/officeDocument/2006/relationships" id="261" r:id="Raa414979af4d4e1b"/>
    <p:sldId xmlns:r="http://schemas.openxmlformats.org/officeDocument/2006/relationships" id="262" r:id="R5da1ddce37d74e1c"/>
    <p:sldId xmlns:r="http://schemas.openxmlformats.org/officeDocument/2006/relationships" id="263" r:id="Rc38aa6d9a34548be"/>
    <p:sldId xmlns:r="http://schemas.openxmlformats.org/officeDocument/2006/relationships" id="264" r:id="Raccc98010949413a"/>
    <p:sldId xmlns:r="http://schemas.openxmlformats.org/officeDocument/2006/relationships" id="265" r:id="R544f51afb3ef4b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d0a8f72b84139" /><Relationship Type="http://schemas.openxmlformats.org/officeDocument/2006/relationships/slideMaster" Target="/ppt/slideMasters/slideMaster1.xml" Id="R4bae9f968c5e453a" /><Relationship Type="http://schemas.openxmlformats.org/officeDocument/2006/relationships/notesMaster" Target="/ppt/notesMasters/notesMaster1.xml" Id="R416a03ea729c45e9" /><Relationship Type="http://schemas.openxmlformats.org/officeDocument/2006/relationships/presProps" Target="/ppt/presProps.xml" Id="Rf995806333384a52" /><Relationship Type="http://schemas.openxmlformats.org/officeDocument/2006/relationships/tableStyles" Target="/ppt/tableStyles.xml" Id="R10fbfdf33f254c3d" /><Relationship Type="http://schemas.openxmlformats.org/officeDocument/2006/relationships/slide" Target="/ppt/slides/slide1.xml" Id="Rdd937fb372744558" /><Relationship Type="http://schemas.openxmlformats.org/officeDocument/2006/relationships/slide" Target="/ppt/slides/slide2.xml" Id="R7d96211f05974043" /><Relationship Type="http://schemas.openxmlformats.org/officeDocument/2006/relationships/slide" Target="/ppt/slides/slide3.xml" Id="Rb0551bc622634b5a" /><Relationship Type="http://schemas.openxmlformats.org/officeDocument/2006/relationships/slide" Target="/ppt/slides/slide4.xml" Id="R3f98acff955e4700" /><Relationship Type="http://schemas.openxmlformats.org/officeDocument/2006/relationships/slide" Target="/ppt/slides/slide5.xml" Id="Rd889837a44de40d1" /><Relationship Type="http://schemas.openxmlformats.org/officeDocument/2006/relationships/slide" Target="/ppt/slides/slide6.xml" Id="Raa414979af4d4e1b" /><Relationship Type="http://schemas.openxmlformats.org/officeDocument/2006/relationships/slide" Target="/ppt/slides/slide7.xml" Id="R5da1ddce37d74e1c" /><Relationship Type="http://schemas.openxmlformats.org/officeDocument/2006/relationships/slide" Target="/ppt/slides/slide8.xml" Id="Rc38aa6d9a34548be" /><Relationship Type="http://schemas.openxmlformats.org/officeDocument/2006/relationships/slide" Target="/ppt/slides/slide9.xml" Id="Raccc98010949413a" /><Relationship Type="http://schemas.openxmlformats.org/officeDocument/2006/relationships/slide" Target="/ppt/slides/slide10.xml" Id="R544f51afb3ef4b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bb1f9ffe7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8685da3a64c3a" /><Relationship Type="http://schemas.openxmlformats.org/officeDocument/2006/relationships/notesMaster" Target="/ppt/notesMasters/notesMaster1.xml" Id="R50308e6e2a9b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e07acfcf8e4473" /><Relationship Type="http://schemas.openxmlformats.org/officeDocument/2006/relationships/notesMaster" Target="/ppt/notesMasters/notesMaster1.xml" Id="R6636791d1631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e050f43baa41ca" /><Relationship Type="http://schemas.openxmlformats.org/officeDocument/2006/relationships/notesMaster" Target="/ppt/notesMasters/notesMaster1.xml" Id="R9e7b56a6c555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fbdfc051b54a6a" /><Relationship Type="http://schemas.openxmlformats.org/officeDocument/2006/relationships/notesMaster" Target="/ppt/notesMasters/notesMaster1.xml" Id="R698781a47eda44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63c23d64340cb" /><Relationship Type="http://schemas.openxmlformats.org/officeDocument/2006/relationships/notesMaster" Target="/ppt/notesMasters/notesMaster1.xml" Id="R62721441303a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5fbbc219104c4b" /><Relationship Type="http://schemas.openxmlformats.org/officeDocument/2006/relationships/notesMaster" Target="/ppt/notesMasters/notesMaster1.xml" Id="Raeef59c5f7ac48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48f5bf019e4492" /><Relationship Type="http://schemas.openxmlformats.org/officeDocument/2006/relationships/notesMaster" Target="/ppt/notesMasters/notesMaster1.xml" Id="R89fe77e5224a44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a34e94c7b4eb5" /><Relationship Type="http://schemas.openxmlformats.org/officeDocument/2006/relationships/notesMaster" Target="/ppt/notesMasters/notesMaster1.xml" Id="Ra564b4b4fa86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5fb55d873d4750" /><Relationship Type="http://schemas.openxmlformats.org/officeDocument/2006/relationships/notesMaster" Target="/ppt/notesMasters/notesMaster1.xml" Id="Rd2e96e768820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50439358ac4f94" /><Relationship Type="http://schemas.openxmlformats.org/officeDocument/2006/relationships/notesMaster" Target="/ppt/notesMasters/notesMaster1.xml" Id="R42e2ce58bc394b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https://www.kaggle.com/datasets/datasnaek/youtube-new. Scope: supplied INvideos.csv and IN_category_id.json.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is a project definition. It does not claim that these factors cause virality.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Bayes theorem is applied using a Laplace-smoothed naive Bayes model in the 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Kaggle Trending YouTube Video Statistics, https://www.kaggle.com/datasets/datasnaek/youtube-new. Dataset description says it contains daily trending-video observations across countries.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Cleaning is implemented in youtube_viral_bayes_project.R. The output includes cleaned daily snapshots and a one-row-per-video analysis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code: youtube_viral_bayes_project.R. Requires jsonlite only for the provided category JSON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calculated from supplied INvideos.csv. Viral cutoff is the 75th percentile of first-trending views in the training partition.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Category posteriors come from the training set. Values shown only for categories with at least 100 observations. Source data: supplied INvideos.csv.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metrics: accuracy 0.7476, precision 0.4894, recall 0.1697. Values were calculated on the withheld 30% test partition.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reflects the analysis of the supplied India data only. It should not be generalized to all YouTube videos or current platform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b55845c754c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0a24e23df84a31" /><Relationship Type="http://schemas.openxmlformats.org/officeDocument/2006/relationships/slideLayout" Target="/ppt/slideLayouts/slideLayout1.xml" Id="R645f7b0cca6e4a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f7b0cca6e4a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35561f75242bb" /><Relationship Type="http://schemas.openxmlformats.org/officeDocument/2006/relationships/notesSlide" Target="/ppt/notesSlides/notesSlide1.xml" Id="Rb064ce96f0cc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9b83150684050" /><Relationship Type="http://schemas.openxmlformats.org/officeDocument/2006/relationships/notesSlide" Target="/ppt/notesSlides/notesSlide2.xml" Id="R5ef2e7119ab9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379d7ff814fee" /><Relationship Type="http://schemas.openxmlformats.org/officeDocument/2006/relationships/notesSlide" Target="/ppt/notesSlides/notesSlide3.xml" Id="R6f620e50506043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8c36f9a845e6" /><Relationship Type="http://schemas.openxmlformats.org/officeDocument/2006/relationships/notesSlide" Target="/ppt/notesSlides/notesSlide4.xml" Id="Rd2eeee27fe26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ab5fbcad34a77" /><Relationship Type="http://schemas.openxmlformats.org/officeDocument/2006/relationships/notesSlide" Target="/ppt/notesSlides/notesSlide5.xml" Id="Rab37f3cbee49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40c1885fd4766" /><Relationship Type="http://schemas.openxmlformats.org/officeDocument/2006/relationships/notesSlide" Target="/ppt/notesSlides/notesSlide6.xml" Id="Rf804c7b8c31e48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d133e7cd0477c" /><Relationship Type="http://schemas.openxmlformats.org/officeDocument/2006/relationships/chart" Target="/ppt/slides/charts/chart1.xml" Id="R408f25c9efc147f5" /><Relationship Type="http://schemas.openxmlformats.org/officeDocument/2006/relationships/notesSlide" Target="/ppt/notesSlides/notesSlide7.xml" Id="R171c77d002f740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a5e674da04257" /><Relationship Type="http://schemas.openxmlformats.org/officeDocument/2006/relationships/chart" Target="/ppt/slides/charts/chart2.xml" Id="R3560a5f8abf54f4f" /><Relationship Type="http://schemas.openxmlformats.org/officeDocument/2006/relationships/notesSlide" Target="/ppt/notesSlides/notesSlide8.xml" Id="R6c6d2daa41bf40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2a2615ed43e7" /><Relationship Type="http://schemas.openxmlformats.org/officeDocument/2006/relationships/chart" Target="/ppt/slides/charts/chart3.xml" Id="Rb9c1f0481f624080" /><Relationship Type="http://schemas.openxmlformats.org/officeDocument/2006/relationships/notesSlide" Target="/ppt/notesSlides/notesSlide9.xml" Id="R02434d29ba4c4b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ee65d5ed408b" /><Relationship Type="http://schemas.openxmlformats.org/officeDocument/2006/relationships/notesSlide" Target="/ppt/notesSlides/notesSlide10.xml" Id="Rb2bfe6eb2aa846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Videos</c:v>
          </c:tx>
          <c:spPr>
            <a:solidFill xmlns:a="http://schemas.openxmlformats.org/drawingml/2006/main">
              <a:srgbClr val="246B9F"/>
            </a:solidFill>
          </c:spPr>
          <c:cat>
            <c:strLit>
              <c:ptCount val="2"/>
              <c:pt idx="0">
                <c:v>Not viral</c:v>
              </c:pt>
              <c:pt idx="1">
                <c:v>Viral</c:v>
              </c:pt>
            </c:strLit>
          </c:cat>
          <c:val>
            <c:numLit>
              <c:formatCode>General</c:formatCode>
              <c:ptCount val="2"/>
              <c:pt idx="0">
                <c:v>12230</c:v>
              </c:pt>
              <c:pt idx="1">
                <c:v>4077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P(Viral | category), %</c:v>
          </c:tx>
          <c:spPr>
            <a:solidFill xmlns:a="http://schemas.openxmlformats.org/drawingml/2006/main">
              <a:srgbClr val="21A6A1"/>
            </a:solidFill>
          </c:spPr>
          <c:cat>
            <c:strLit>
              <c:ptCount val="10"/>
              <c:pt idx="0">
                <c:v>Sports</c:v>
              </c:pt>
              <c:pt idx="1">
                <c:v>Music</c:v>
              </c:pt>
              <c:pt idx="2">
                <c:v>Film &amp; Animation</c:v>
              </c:pt>
              <c:pt idx="3">
                <c:v>Comedy</c:v>
              </c:pt>
              <c:pt idx="4">
                <c:v>Howto &amp; Style</c:v>
              </c:pt>
              <c:pt idx="5">
                <c:v>Science &amp; Technology</c:v>
              </c:pt>
              <c:pt idx="6">
                <c:v>People &amp; Blogs</c:v>
              </c:pt>
              <c:pt idx="7">
                <c:v>Entertainment</c:v>
              </c:pt>
              <c:pt idx="8">
                <c:v>News &amp; Politics</c:v>
              </c:pt>
              <c:pt idx="9">
                <c:v>Education</c:v>
              </c:pt>
            </c:strLit>
          </c:cat>
          <c:val>
            <c:numLit>
              <c:formatCode>General</c:formatCode>
              <c:ptCount val="10"/>
              <c:pt idx="0">
                <c:v>50.4</c:v>
              </c:pt>
              <c:pt idx="1">
                <c:v>48</c:v>
              </c:pt>
              <c:pt idx="2">
                <c:v>44.6</c:v>
              </c:pt>
              <c:pt idx="3">
                <c:v>35.8</c:v>
              </c:pt>
              <c:pt idx="4">
                <c:v>35</c:v>
              </c:pt>
              <c:pt idx="5">
                <c:v>32.1</c:v>
              </c:pt>
              <c:pt idx="6">
                <c:v>24.4</c:v>
              </c:pt>
              <c:pt idx="7">
                <c:v>22.5</c:v>
              </c:pt>
              <c:pt idx="8">
                <c:v>11.4</c:v>
              </c:pt>
              <c:pt idx="9">
                <c:v>2.3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P(Viral | feature), %</c:v>
          </c:tx>
          <c:spPr>
            <a:solidFill xmlns:a="http://schemas.openxmlformats.org/drawingml/2006/main">
              <a:srgbClr val="EF6C57"/>
            </a:solidFill>
          </c:spPr>
          <c:cat>
            <c:strLit>
              <c:ptCount val="7"/>
              <c:pt idx="0">
                <c:v>High like rate</c:v>
              </c:pt>
              <c:pt idx="1">
                <c:v>Low like rate</c:v>
              </c:pt>
              <c:pt idx="2">
                <c:v>High comment rate</c:v>
              </c:pt>
              <c:pt idx="3">
                <c:v>Low comment rate</c:v>
              </c:pt>
              <c:pt idx="4">
                <c:v>Short title</c:v>
              </c:pt>
              <c:pt idx="5">
                <c:v>Long title</c:v>
              </c:pt>
              <c:pt idx="6">
                <c:v>Evening publish</c:v>
              </c:pt>
            </c:strLit>
          </c:cat>
          <c:val>
            <c:numLit>
              <c:formatCode>General</c:formatCode>
              <c:ptCount val="7"/>
              <c:pt idx="0">
                <c:v>29.8</c:v>
              </c:pt>
              <c:pt idx="1">
                <c:v>20.2</c:v>
              </c:pt>
              <c:pt idx="2">
                <c:v>27.8</c:v>
              </c:pt>
              <c:pt idx="3">
                <c:v>22.2</c:v>
              </c:pt>
              <c:pt idx="4">
                <c:v>28.8</c:v>
              </c:pt>
              <c:pt idx="5">
                <c:v>21.3</c:v>
              </c:pt>
              <c:pt idx="6">
                <c:v>30.4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28269-2A54-431A-9CD9-2AB2AEDD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D"/>
          </a:solidFill>
          <a:ln xmlns:a="http://schemas.openxmlformats.org/drawingml/2006/main" w="0">
            <a:solidFill>
              <a:srgbClr val="F7F3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7755-4965-4290-914F-F946712F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CC366-96BB-485F-8122-D4C5DE1D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A35E8-4EB5-4E07-AF08-7C9869BB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makes a YouTube video go viral?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4DC05-177E-4E11-A134-361BCCEA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6B9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6B9F"/>
                </a:solidFill>
                <a:latin typeface="Arial"/>
                <a:ea typeface="Arial"/>
                <a:cs typeface="Arial"/>
              </a:rPr>
              <a:t>A Bayesian analysis of India’s YouTube Trending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65A0C-BD95-4611-8A5B-E23E070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Mini project using Bayes’ theorem and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E1798-EF0C-4832-BFAC-DF47381B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Kaggle public dataset | 2017–2018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4B503-304C-4883-98A3-6250735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BAYES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THEOREM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5F8FC-DD60-455B-B902-DA5FABC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D9E8"/>
                </a:solidFill>
                <a:latin typeface="Arial"/>
                <a:ea typeface="Arial"/>
                <a:cs typeface="Arial"/>
              </a:rPr>
              <a:t>Prior evidence</a:t>
            </a:r>
          </a:p>
          <a:p xmlns:a="http://schemas.openxmlformats.org/drawingml/2006/main">
            <a:pPr algn="ctr">
              <a:defRPr sz="1425" b="0">
                <a:solidFill>
                  <a:srgbClr val="B7D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D9E8"/>
                </a:solidFill>
                <a:latin typeface="Arial"/>
                <a:ea typeface="Arial"/>
                <a:cs typeface="Arial"/>
              </a:rPr>
              <a:t>+ observed signals</a:t>
            </a:r>
          </a:p>
          <a:p xmlns:a="http://schemas.openxmlformats.org/drawingml/2006/main">
            <a:pPr algn="ctr">
              <a:defRPr sz="1425" b="0">
                <a:solidFill>
                  <a:srgbClr val="B7D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D9E8"/>
                </a:solidFill>
                <a:latin typeface="Arial"/>
                <a:ea typeface="Arial"/>
                <a:cs typeface="Arial"/>
              </a:rPr>
              <a:t>= posterior probability</a:t>
            </a:r>
          </a:p>
        </p:txBody>
      </p:sp>
    </p:spTree>
    <p:extLst>
      <p:ext uri="{BB962C8B-B14F-4D97-AF65-F5344CB8AC3E}">
        <p14:creationId xmlns:p14="http://schemas.microsoft.com/office/powerpoint/2010/main" val="1189190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EAE72-6FB3-4D4B-814E-A29A5C8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A34D9-B777-49DE-8E9E-02C8C57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Aim and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B6BEE-9924-4705-9A97-C76AE63D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1FCAE-72C0-43FD-988C-7CA6C40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F4B62-976B-4FFE-81CE-942663A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A6A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A6A1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FB2D6-1092-4204-A4EC-734FC1C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Given a video’s first observed trending snapshot, what is the probability that it belongs to the top 25% of first-day trending views?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F0289-1EA7-4A47-9F69-41D810A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C57"/>
          </a:solidFill>
          <a:ln xmlns:a="http://schemas.openxmlformats.org/drawingml/2006/main" w="0">
            <a:solidFill>
              <a:srgbClr val="EF6C5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927EA-2186-4A43-9636-185CA83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Classify a video as viral when its first observed trending views meet or exceed the training-set 75th percentile.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3D556-45AE-453C-94A0-33E9E9C3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D8747-9258-41DF-B4BD-739C4DF4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6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Use category, early like rate, early comment rate, title length, and publish period as discrete Bayesian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E2367-A738-45B0-BAC5-0F73FD4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F"/>
          </a:solidFill>
          <a:ln xmlns:a="http://schemas.openxmlformats.org/drawingml/2006/main" w="0">
            <a:solidFill>
              <a:srgbClr val="246B9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4EC6B-EC1B-494A-A730-54B269B2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Evaluate the classifier on a separate 30% test set. The goal is explanation, not causal proof.</a:t>
            </a:r>
          </a:p>
        </p:txBody>
      </p:sp>
    </p:spTree>
    <p:extLst>
      <p:ext uri="{BB962C8B-B14F-4D97-AF65-F5344CB8AC3E}">
        <p14:creationId xmlns:p14="http://schemas.microsoft.com/office/powerpoint/2010/main" val="783733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BAF03-D6DC-4731-A248-A4324FFD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F46C7-6E2D-4136-B770-2BA8B74C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Domain theory and Bayes’ theorem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95162-FB68-4A9C-A325-1A7D622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F241C-5D39-4220-B8B0-94DF7565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9E121-ED43-4DE5-B93F-E479648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Audience response signals can update an initial estimate of a video’s chance of high reach.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747F4-8A20-481C-85BB-955008C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066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3AFF9-7FDC-41AD-B66B-A97C65F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P(Viral | Evidence) = [P(Evidence | Viral) × P(Viral)] / P(Evidence)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AAFFC-952E-4E32-AE65-B622AD5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6C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F6C57"/>
                </a:solidFill>
                <a:latin typeface="Arial"/>
                <a:ea typeface="Arial"/>
                <a:cs typeface="Arial"/>
              </a:rPr>
              <a:t>Prior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62984-A566-4C2A-BE97-95CD4F09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Base share of viral videos in training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0EE8C-A9D5-4FD9-8A76-823D3084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81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A6A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A6A1"/>
                </a:solidFill>
                <a:latin typeface="Arial"/>
                <a:ea typeface="Arial"/>
                <a:cs typeface="Arial"/>
              </a:rPr>
              <a:t>Likelihood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41B16-C9EB-4082-BFE8-BCF02E0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How common a feature is among viral videos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CEE74-1948-4258-B6F8-7C461A8F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9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9F"/>
                </a:solidFill>
                <a:latin typeface="Arial"/>
                <a:ea typeface="Arial"/>
                <a:cs typeface="Arial"/>
              </a:rPr>
              <a:t>Posterior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A29C7-B794-4001-8E2F-ACE71B10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Updated probability after the observed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0B5C7-BE0A-4AC0-BBB0-C1A706F6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Naive Bayes assumes the selected features are conditionally independent given the class. That assumption simplifies computation and may not hold fully.</a:t>
            </a:r>
          </a:p>
        </p:txBody>
      </p:sp>
    </p:spTree>
    <p:extLst>
      <p:ext uri="{BB962C8B-B14F-4D97-AF65-F5344CB8AC3E}">
        <p14:creationId xmlns:p14="http://schemas.microsoft.com/office/powerpoint/2010/main" val="585767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70345-DC2E-4E17-BC27-59B2385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601C7-3D0E-42AE-99E8-60567140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description and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11D9D-004D-482B-BAF5-750B7BA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5DE4-1F50-4EB6-B003-2C1083F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A1DD2-9533-4121-AF9C-E52BFED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A6A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A6A1"/>
                </a:solidFill>
                <a:latin typeface="Arial"/>
                <a:ea typeface="Arial"/>
                <a:cs typeface="Arial"/>
              </a:rPr>
              <a:t>Public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D4BC3-86E7-4AD5-A358-3E910F1F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Kaggle: Trending YouTube Video Statistics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03D3C-88C6-4D40-95E1-051D50FD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6B9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6B9F"/>
                </a:solidFill>
                <a:latin typeface="Arial"/>
                <a:ea typeface="Arial"/>
                <a:cs typeface="Arial"/>
              </a:rPr>
              <a:t>https://www.kaggle.com/datasets/datasnaek/youtube-new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999DD-A058-47CC-9369-8A71B233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145FA-593F-46B4-94EA-03AA5B0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C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6C57"/>
                </a:solidFill>
                <a:latin typeface="Arial"/>
                <a:ea typeface="Arial"/>
                <a:cs typeface="Arial"/>
              </a:rPr>
              <a:t>Supplied files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B19EF-1730-4DA2-B5D4-D340B85F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INvideos.csv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IN_category_id.json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78036-E702-44BB-8C65-611D172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C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6C57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050FC-CED6-4F3F-9BA0-A0F918AB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14 Nov 2017 to 14 Jun 2018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37,352 daily trending snapshots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1E29-AB7D-44CC-BE18-792C778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C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6C57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3A578-19FF-4F3D-AAAF-008C44C7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distinct video at first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observed trending appearance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79EA0-9976-4DF9-AB1E-C35237E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Available fields include video ID, title, category, publish time, views, likes, dislikes, comments, tags, and settings flags.</a:t>
            </a:r>
          </a:p>
        </p:txBody>
      </p:sp>
    </p:spTree>
    <p:extLst>
      <p:ext uri="{BB962C8B-B14F-4D97-AF65-F5344CB8AC3E}">
        <p14:creationId xmlns:p14="http://schemas.microsoft.com/office/powerpoint/2010/main" val="1659482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90331-0F0E-4460-AE39-0C9AB65A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128D1-3B90-4333-AA34-732C19B0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E927A-D9CE-4D52-A5C3-D370F9D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F9105-75D5-4322-B9DD-8BB75E0E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7C92B-A5CE-4581-8300-4A12710E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raw daily records to an analysis-ready video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D0BC3-3000-4647-981F-7FAE78C2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428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F"/>
          </a:solidFill>
          <a:ln xmlns:a="http://schemas.openxmlformats.org/drawingml/2006/main" w="0">
            <a:solidFill>
              <a:srgbClr val="246B9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13B33-B8B5-49AC-9B57-E73374E0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C2648-D05C-4AED-85A9-6FD619F8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B8417-CED3-49A8-B477-A1FD8AE7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48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Convert dates</a:t>
            </a:r>
          </a:p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and numeric 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F5FD6-5C66-4A0F-A8AA-FC8037E1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428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1C408-2FFA-4072-B692-0DEAA873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43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20745-47E3-4209-8B6B-5237E2C8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E6112-FD70-4B25-AC4B-ACC06E4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48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Remove missing IDs</a:t>
            </a:r>
          </a:p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or invalid 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D1A35-BFE6-4820-9E44-7C92022A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71750"/>
            <a:ext cx="1428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C57"/>
          </a:solidFill>
          <a:ln xmlns:a="http://schemas.openxmlformats.org/drawingml/2006/main" w="0">
            <a:solidFill>
              <a:srgbClr val="EF6C5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0C41B-2FDC-46E4-B314-E145A1BC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43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A222C-0DD3-4FB8-8FC1-B160262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67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24503-32DB-4AE2-B8A6-95A0BE49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048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Map category IDs</a:t>
            </a:r>
          </a:p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and derive rates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D8291-8E57-4C49-B0F7-5A103DD2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428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F"/>
          </a:solidFill>
          <a:ln xmlns:a="http://schemas.openxmlformats.org/drawingml/2006/main" w="0">
            <a:solidFill>
              <a:srgbClr val="246B9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9EBCE-331E-4F6B-B318-CB43C242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855D6-E455-4BBB-A7D1-80CBD95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67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2050A-2498-489C-A43A-A01F033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48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Keep first observed</a:t>
            </a:r>
          </a:p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trending row per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7D292-2A0A-433C-A646-1FA668EB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1428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FAA38-89CC-4D1D-87A5-10204064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43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73B29-B9A6-4A8B-8BEC-907A0CD8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67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28ECF-6C84-4983-86FB-18B2237F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048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Stratified 70/30</a:t>
            </a:r>
          </a:p>
          <a:p xmlns:a="http://schemas.openxmlformats.org/drawingml/2006/main">
            <a:pPr algn="ctr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train/test samples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C4CC3-98B1-443F-B361-E3C7CF4E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Derived variables: likes per view, comments per view, title length, tag count, publish hour, and publish period.</a:t>
            </a:r>
          </a:p>
        </p:txBody>
      </p:sp>
    </p:spTree>
    <p:extLst>
      <p:ext uri="{BB962C8B-B14F-4D97-AF65-F5344CB8AC3E}">
        <p14:creationId xmlns:p14="http://schemas.microsoft.com/office/powerpoint/2010/main" val="1154331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56914-C1EA-4272-B391-BE055840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D986-F4E9-48E5-A6AF-DE2E06D6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ED262-C14B-444A-A825-1695DE17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1167A-32E6-4B30-8E0A-DFF59637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A3CC2-EAAF-478E-83B3-83CE236E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Reproducible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4745-5E61-47C4-9251-D762BD08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666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A983A-F3F2-46BD-B141-959CAC5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6000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read.csv()  →  clean fields  →  first trending 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quantile(views, 0.75)  →  viral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P(Viral|x) ∝ P(Viral) × ∏ P(xj|Viral)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Laplace smoothing: (count + 1) / (class count + levels)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Test posterior ≥ 0.50  →  prediction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26ED4-4B01-44D8-9002-26188DB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A6A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A6A1"/>
                </a:solidFill>
                <a:latin typeface="Arial"/>
                <a:ea typeface="Arial"/>
                <a:cs typeface="Arial"/>
              </a:rPr>
              <a:t>Output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0EE0F-E74D-41D6-8EE5-A4DC98A9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cleaned daily snapshots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first-trending video dataset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test-set predictions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Bayes evidence table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performance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425D2-2F9D-4528-9A1A-5E1C596B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R script uses jsonlite to read the category mapping. All model calculations use base R.</a:t>
            </a:r>
          </a:p>
        </p:txBody>
      </p:sp>
    </p:spTree>
    <p:extLst>
      <p:ext uri="{BB962C8B-B14F-4D97-AF65-F5344CB8AC3E}">
        <p14:creationId xmlns:p14="http://schemas.microsoft.com/office/powerpoint/2010/main" val="1304212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819CA-DCA7-481C-96B7-1D645F1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2EE7-3FF1-45E9-A293-BF840EA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analysis: reach and class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10BB9-137B-49F7-ABB5-6E3E9C98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B14A1-27E2-43AE-A77E-0DEBFAAC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5716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8f25c9efc147f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D525-1DF5-4EB3-8BC4-E988D8B3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A6A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A6A1"/>
                </a:solidFill>
                <a:latin typeface="Arial"/>
                <a:ea typeface="Arial"/>
                <a:cs typeface="Arial"/>
              </a:rPr>
              <a:t>Class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42C4A-0BD8-4DEE-8987-FDC057B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Viral threshold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344,239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96B88-AC22-4A4F-BDA0-7DC085F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Training-set cutoff at the 75th percentile of first-trending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8F845-5B35-4F39-9A68-E2E5F314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16,307 distinct videos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11,414 training videos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4,893 test videos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7F88A-AEE2-49D9-BE2B-0D49712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class chart shows labels using the final threshold across all first-trending videos.</a:t>
            </a:r>
          </a:p>
        </p:txBody>
      </p:sp>
    </p:spTree>
    <p:extLst>
      <p:ext uri="{BB962C8B-B14F-4D97-AF65-F5344CB8AC3E}">
        <p14:creationId xmlns:p14="http://schemas.microsoft.com/office/powerpoint/2010/main" val="2057408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BA558-1C60-49B8-BE51-A72A0464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5431D-829D-48EF-BE11-3FAE7E87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analysis: category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04FD8-2213-4134-A2C1-7F36B8D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4C753-493F-422F-A52C-53C3DBD8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14375" y="1428750"/>
          <a:ext xmlns:a="http://schemas.openxmlformats.org/drawingml/2006/main" cx="6905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60a5f8abf54f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4D348-6C53-4B66-A86C-1CB6C59F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C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6C57"/>
                </a:solidFill>
                <a:latin typeface="Arial"/>
                <a:ea typeface="Arial"/>
                <a:cs typeface="Arial"/>
              </a:rPr>
              <a:t>Prior P(Viral)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59CD-3AFC-4513-99ED-0C04C95F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25.0%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893BB-6E7B-4853-9701-94829C8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Sports: 50.4%</a:t>
            </a:r>
          </a:p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Music: 48.0%</a:t>
            </a:r>
          </a:p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Education: 2.3%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28CCB-2945-44C6-960C-14EEE68B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Filter: categories with at least 100 training videos. Categories differ in representation and time period, so these are associations only.</a:t>
            </a:r>
          </a:p>
        </p:txBody>
      </p:sp>
    </p:spTree>
    <p:extLst>
      <p:ext uri="{BB962C8B-B14F-4D97-AF65-F5344CB8AC3E}">
        <p14:creationId xmlns:p14="http://schemas.microsoft.com/office/powerpoint/2010/main" val="885035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6B6B8-BD59-4297-A00F-F16590B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86DDA-413D-44AA-A83C-35F804D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analysis: engagement signals and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F896E-7BD6-4A6C-AAB4-95834354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61F8-C907-4628-9349-304B624A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1D50A-2B1E-4AC5-AFBF-2907F33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Single-feature posterior probabilities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c1f0481f62408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351A1-42B3-49E1-ADB9-44DC98C6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476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41EE2-5030-46A5-9854-1DC01357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D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D9E8"/>
                </a:solidFill>
                <a:latin typeface="Arial"/>
                <a:ea typeface="Arial"/>
                <a:cs typeface="Arial"/>
              </a:rPr>
              <a:t>Held-out test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B4714-9924-49A3-B546-AD8FD12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74.8%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35E8C-518F-4722-917A-AF965025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48.9% precision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17.0%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7FE30-0EF9-400F-9D2A-40B368B1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9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Accuracy benefits from the majority non-viral class. The low recall means the model misses many viral videos.</a:t>
            </a:r>
          </a:p>
        </p:txBody>
      </p:sp>
    </p:spTree>
    <p:extLst>
      <p:ext uri="{BB962C8B-B14F-4D97-AF65-F5344CB8AC3E}">
        <p14:creationId xmlns:p14="http://schemas.microsoft.com/office/powerpoint/2010/main" val="1027545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0C898-38C0-424D-B909-2DF082C7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47B52-8EBD-4C3A-870B-CACBC3C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2C6E-F008-4A4C-9933-93F8602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YouTube viral video project | India trending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2110C-3C78-44A2-B5A0-32CD1AE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C1D96-6986-416A-8675-FF5FEA72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79284-B594-4C63-8AEF-1F07C6D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1"/>
          </a:solidFill>
          <a:ln xmlns:a="http://schemas.openxmlformats.org/drawingml/2006/main" w="0">
            <a:solidFill>
              <a:srgbClr val="21A6A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3A92-7EDC-4C2B-A430-48C698E8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base probability of high first-trending reach is about 25%. Sports, Music, and Film &amp; Animation show higher observed posterior probabilities.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92B50-5723-40E8-80CD-D4A9D616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C57"/>
          </a:solidFill>
          <a:ln xmlns:a="http://schemas.openxmlformats.org/drawingml/2006/main" w="0">
            <a:solidFill>
              <a:srgbClr val="EF6C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9F578-62C9-42F0-9505-9EB3D2A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Higher early like and comment rates increase the estimated probability modestly. These measures describe early response, not a guaranteed recipe.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28D77-B21F-466E-AC06-34119C3D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F"/>
          </a:solidFill>
          <a:ln xmlns:a="http://schemas.openxmlformats.org/drawingml/2006/main" w="0">
            <a:solidFill>
              <a:srgbClr val="246B9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7E275-788B-4C42-93A9-16CF01D7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model is a useful Bayes-theorem demonstration, but its 17.0% recall limits its use for real prediction.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EA3C7-F0A9-4815-90D9-AE706A5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C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6C57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24345-08FF-4117-910A-67E656C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Trending-list selection bias, dated 2017–2018 observations, country-specific scope, and naive conditional-independence assumption.</a:t>
            </a:r>
          </a:p>
        </p:txBody>
      </p:sp>
    </p:spTree>
    <p:extLst>
      <p:ext uri="{BB962C8B-B14F-4D97-AF65-F5344CB8AC3E}">
        <p14:creationId xmlns:p14="http://schemas.microsoft.com/office/powerpoint/2010/main" val="1621260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2026-09-30T14:21:40.1250000Z</dcterms:created>
  <dcterms:modified xsi:type="dcterms:W3CDTF">2026-09-30T14:21:40.1260000Z</dcterms:modified>
</coreProperties>
</file>